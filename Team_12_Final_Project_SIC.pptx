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</p:sldIdLst>
  <p:sldSz cx="9880600" cy="6858000"/>
  <p:notesSz cx="6858000" cy="9144000"/>
  <p:embeddedFontLst>
    <p:embeddedFont>
      <p:font typeface="Arial MT Pro" panose="020B0604020202020204" charset="0"/>
      <p:regular r:id="rId30"/>
    </p:embeddedFont>
    <p:embeddedFont>
      <p:font typeface="Arial MT Pro Bold" panose="020B0604020202020204" charset="0"/>
      <p:regular r:id="rId31"/>
    </p:embeddedFont>
    <p:embeddedFont>
      <p:font typeface="Arimo" panose="020B0604020202020204" charset="0"/>
      <p:regular r:id="rId32"/>
    </p:embeddedFont>
    <p:embeddedFont>
      <p:font typeface="Arimo Bold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41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9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motaz-sameh-shehata/" TargetMode="External"/><Relationship Id="rId3" Type="http://schemas.openxmlformats.org/officeDocument/2006/relationships/image" Target="../media/image4.jpeg"/><Relationship Id="rId7" Type="http://schemas.openxmlformats.org/officeDocument/2006/relationships/hyperlink" Target="https://www.linkedin.com/in/yusuf-mohamed2?utm_source=share&amp;utm_campaign=share_via&amp;utm_content=profile&amp;utm_medium=android_app" TargetMode="External"/><Relationship Id="rId12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linkedin.com/in/samah-mahmoud-667398393?utm_source=share_via&amp;utm_content=profile&amp;utm_medium=member_android" TargetMode="External"/><Relationship Id="rId11" Type="http://schemas.openxmlformats.org/officeDocument/2006/relationships/image" Target="../media/image7.jpeg"/><Relationship Id="rId5" Type="http://schemas.openxmlformats.org/officeDocument/2006/relationships/hyperlink" Target="https://www.linkedin.com/in/manar-sabry-4b3a2a326/" TargetMode="External"/><Relationship Id="rId10" Type="http://schemas.openxmlformats.org/officeDocument/2006/relationships/image" Target="../media/image6.jpeg"/><Relationship Id="rId4" Type="http://schemas.openxmlformats.org/officeDocument/2006/relationships/image" Target="../media/image5.jpeg"/><Relationship Id="rId9" Type="http://schemas.openxmlformats.org/officeDocument/2006/relationships/hyperlink" Target="https://www.linkedin.com/in/mark-sedky-cs?utm_source=share_via&amp;utm_content=profile&amp;utm_medium=member_android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29153" y="247012"/>
            <a:ext cx="1599009" cy="524094"/>
            <a:chOff x="0" y="0"/>
            <a:chExt cx="2132012" cy="6987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2076" cy="698754"/>
            </a:xfrm>
            <a:custGeom>
              <a:avLst/>
              <a:gdLst/>
              <a:ahLst/>
              <a:cxnLst/>
              <a:rect l="l" t="t" r="r" b="b"/>
              <a:pathLst>
                <a:path w="2132076" h="698754">
                  <a:moveTo>
                    <a:pt x="0" y="0"/>
                  </a:moveTo>
                  <a:lnTo>
                    <a:pt x="2132076" y="0"/>
                  </a:lnTo>
                  <a:lnTo>
                    <a:pt x="2132076" y="698754"/>
                  </a:lnTo>
                  <a:lnTo>
                    <a:pt x="0" y="698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3" r="2" b="-12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95900" y="403955"/>
            <a:ext cx="1360961" cy="210188"/>
          </a:xfrm>
          <a:custGeom>
            <a:avLst/>
            <a:gdLst/>
            <a:ahLst/>
            <a:cxnLst/>
            <a:rect l="l" t="t" r="r" b="b"/>
            <a:pathLst>
              <a:path w="1360961" h="210188">
                <a:moveTo>
                  <a:pt x="0" y="0"/>
                </a:moveTo>
                <a:lnTo>
                  <a:pt x="1360961" y="0"/>
                </a:lnTo>
                <a:lnTo>
                  <a:pt x="1360961" y="210188"/>
                </a:lnTo>
                <a:lnTo>
                  <a:pt x="0" y="210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070" b="-207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65899" y="2703376"/>
            <a:ext cx="8671798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Multimodal Clinical Decision Support for Pulmonary Pathology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5899" y="4053783"/>
            <a:ext cx="6045003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0B3E3"/>
                </a:solidFill>
                <a:latin typeface="Arial MT Pro"/>
                <a:ea typeface="Arial MT Pro"/>
                <a:cs typeface="Arial MT Pro"/>
                <a:sym typeface="Arial MT Pro"/>
              </a:rPr>
              <a:t>SIC – AI803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9104" y="184328"/>
            <a:ext cx="4414314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4925" y="1671637"/>
            <a:ext cx="8803148" cy="297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Team Members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Motivation &amp; Problem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Targeted audience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Tools &amp; Technologies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Our approach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Final Results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Deployment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Future Enhancements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42987" y="108128"/>
            <a:ext cx="4414314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Team Members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202336" y="5734822"/>
            <a:ext cx="387858" cy="268776"/>
            <a:chOff x="0" y="0"/>
            <a:chExt cx="517144" cy="3583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7144" cy="358394"/>
            </a:xfrm>
            <a:custGeom>
              <a:avLst/>
              <a:gdLst/>
              <a:ahLst/>
              <a:cxnLst/>
              <a:rect l="l" t="t" r="r" b="b"/>
              <a:pathLst>
                <a:path w="517144" h="358394">
                  <a:moveTo>
                    <a:pt x="0" y="0"/>
                  </a:moveTo>
                  <a:lnTo>
                    <a:pt x="517144" y="0"/>
                  </a:lnTo>
                  <a:lnTo>
                    <a:pt x="517144" y="358394"/>
                  </a:lnTo>
                  <a:lnTo>
                    <a:pt x="0" y="358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0" b="-22143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94526" y="3596850"/>
            <a:ext cx="1302791" cy="1954197"/>
            <a:chOff x="0" y="0"/>
            <a:chExt cx="1737055" cy="26055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37106" cy="2605532"/>
            </a:xfrm>
            <a:custGeom>
              <a:avLst/>
              <a:gdLst/>
              <a:ahLst/>
              <a:cxnLst/>
              <a:rect l="l" t="t" r="r" b="b"/>
              <a:pathLst>
                <a:path w="1737106" h="2605532">
                  <a:moveTo>
                    <a:pt x="0" y="0"/>
                  </a:moveTo>
                  <a:lnTo>
                    <a:pt x="1737106" y="0"/>
                  </a:lnTo>
                  <a:lnTo>
                    <a:pt x="1737106" y="2605532"/>
                  </a:lnTo>
                  <a:lnTo>
                    <a:pt x="0" y="2605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749" r="-43746" b="-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608034" y="3596850"/>
            <a:ext cx="1316469" cy="1974704"/>
            <a:chOff x="0" y="0"/>
            <a:chExt cx="1755292" cy="263293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55267" cy="2632964"/>
            </a:xfrm>
            <a:custGeom>
              <a:avLst/>
              <a:gdLst/>
              <a:ahLst/>
              <a:cxnLst/>
              <a:rect l="l" t="t" r="r" b="b"/>
              <a:pathLst>
                <a:path w="1755267" h="2632964">
                  <a:moveTo>
                    <a:pt x="0" y="0"/>
                  </a:moveTo>
                  <a:lnTo>
                    <a:pt x="1755267" y="0"/>
                  </a:lnTo>
                  <a:lnTo>
                    <a:pt x="1755267" y="2632964"/>
                  </a:lnTo>
                  <a:lnTo>
                    <a:pt x="0" y="2632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259" r="-1" b="-9258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4442936" y="3410988"/>
            <a:ext cx="953329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8"/>
              </a:lnSpc>
            </a:pPr>
            <a:r>
              <a:rPr lang="en-US" sz="1299" u="sng">
                <a:solidFill>
                  <a:srgbClr val="0000FF"/>
                </a:solidFill>
                <a:latin typeface="Arial MT Pro"/>
                <a:ea typeface="Arial MT Pro"/>
                <a:cs typeface="Arial MT Pro"/>
                <a:sym typeface="Arial MT Pro"/>
                <a:hlinkClick r:id="rId5" tooltip="https://www.linkedin.com/in/manar-sabry-4b3a2a326/"/>
              </a:rPr>
              <a:t>Manar Sabry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60796" y="5755948"/>
            <a:ext cx="1494673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8"/>
              </a:lnSpc>
            </a:pPr>
            <a:r>
              <a:rPr lang="en-US" sz="1299" u="sng">
                <a:solidFill>
                  <a:srgbClr val="0000FF"/>
                </a:solidFill>
                <a:latin typeface="Arial MT Pro"/>
                <a:ea typeface="Arial MT Pro"/>
                <a:cs typeface="Arial MT Pro"/>
                <a:sym typeface="Arial MT Pro"/>
                <a:hlinkClick r:id="rId6" tooltip="https://www.linkedin.com/in/samah-mahmoud-667398393?utm_source=share_via&amp;utm_content=profile&amp;utm_medium=member_android"/>
              </a:rPr>
              <a:t>Samah Mahmoud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7182" y="5755948"/>
            <a:ext cx="1422918" cy="199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58"/>
              </a:lnSpc>
            </a:pPr>
            <a:r>
              <a:rPr lang="en-US" sz="1299" u="sng" dirty="0">
                <a:solidFill>
                  <a:srgbClr val="0000FF"/>
                </a:solidFill>
                <a:latin typeface="Arial MT Pro"/>
                <a:ea typeface="Arial MT Pro"/>
                <a:cs typeface="Arial MT Pro"/>
                <a:sym typeface="Arial MT Pro"/>
                <a:hlinkClick r:id="rId7" tooltip="https://www.linkedin.com/in/yusuf-mohamed2?utm_source=share&amp;utm_campaign=share_via&amp;utm_content=profile&amp;utm_medium=android_app"/>
              </a:rPr>
              <a:t>Yusuf Mohamed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4918" y="3276600"/>
            <a:ext cx="1112872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8"/>
              </a:lnSpc>
            </a:pPr>
            <a:r>
              <a:rPr lang="en-US" sz="1299" u="sng">
                <a:solidFill>
                  <a:srgbClr val="0000FF"/>
                </a:solidFill>
                <a:latin typeface="Arial MT Pro"/>
                <a:ea typeface="Arial MT Pro"/>
                <a:cs typeface="Arial MT Pro"/>
                <a:sym typeface="Arial MT Pro"/>
                <a:hlinkClick r:id="rId8" tooltip="https://www.linkedin.com/in/motaz-sameh-shehata/"/>
              </a:rPr>
              <a:t>Moataz Sameh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46002" y="3354876"/>
            <a:ext cx="964673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8"/>
              </a:lnSpc>
            </a:pPr>
            <a:r>
              <a:rPr lang="en-US" sz="1299" u="sng">
                <a:solidFill>
                  <a:srgbClr val="0000FF"/>
                </a:solidFill>
                <a:latin typeface="Arial MT Pro"/>
                <a:ea typeface="Arial MT Pro"/>
                <a:cs typeface="Arial MT Pro"/>
                <a:sym typeface="Arial MT Pro"/>
                <a:hlinkClick r:id="rId9" tooltip="https://www.linkedin.com/in/mark-sedky-cs?utm_source=share_via&amp;utm_content=profile&amp;utm_medium=member_android"/>
              </a:rPr>
              <a:t>Mark Sedky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06668" y="5734822"/>
            <a:ext cx="387858" cy="268776"/>
            <a:chOff x="0" y="0"/>
            <a:chExt cx="517144" cy="35836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7144" cy="358394"/>
            </a:xfrm>
            <a:custGeom>
              <a:avLst/>
              <a:gdLst/>
              <a:ahLst/>
              <a:cxnLst/>
              <a:rect l="l" t="t" r="r" b="b"/>
              <a:pathLst>
                <a:path w="517144" h="358394">
                  <a:moveTo>
                    <a:pt x="0" y="0"/>
                  </a:moveTo>
                  <a:lnTo>
                    <a:pt x="517144" y="0"/>
                  </a:lnTo>
                  <a:lnTo>
                    <a:pt x="517144" y="358394"/>
                  </a:lnTo>
                  <a:lnTo>
                    <a:pt x="0" y="358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0" b="-22143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92250" y="3255474"/>
            <a:ext cx="387858" cy="268776"/>
            <a:chOff x="0" y="0"/>
            <a:chExt cx="517144" cy="35836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7144" cy="358394"/>
            </a:xfrm>
            <a:custGeom>
              <a:avLst/>
              <a:gdLst/>
              <a:ahLst/>
              <a:cxnLst/>
              <a:rect l="l" t="t" r="r" b="b"/>
              <a:pathLst>
                <a:path w="517144" h="358394">
                  <a:moveTo>
                    <a:pt x="0" y="0"/>
                  </a:moveTo>
                  <a:lnTo>
                    <a:pt x="517144" y="0"/>
                  </a:lnTo>
                  <a:lnTo>
                    <a:pt x="517144" y="358394"/>
                  </a:lnTo>
                  <a:lnTo>
                    <a:pt x="0" y="358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0" b="-22143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7686694" y="3333750"/>
            <a:ext cx="387858" cy="268776"/>
            <a:chOff x="0" y="0"/>
            <a:chExt cx="517144" cy="3583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17144" cy="358394"/>
            </a:xfrm>
            <a:custGeom>
              <a:avLst/>
              <a:gdLst/>
              <a:ahLst/>
              <a:cxnLst/>
              <a:rect l="l" t="t" r="r" b="b"/>
              <a:pathLst>
                <a:path w="517144" h="358394">
                  <a:moveTo>
                    <a:pt x="0" y="0"/>
                  </a:moveTo>
                  <a:lnTo>
                    <a:pt x="517144" y="0"/>
                  </a:lnTo>
                  <a:lnTo>
                    <a:pt x="517144" y="358394"/>
                  </a:lnTo>
                  <a:lnTo>
                    <a:pt x="0" y="358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0" b="-22143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3885867" y="3389862"/>
            <a:ext cx="387858" cy="268776"/>
            <a:chOff x="0" y="0"/>
            <a:chExt cx="517144" cy="35836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17144" cy="358394"/>
            </a:xfrm>
            <a:custGeom>
              <a:avLst/>
              <a:gdLst/>
              <a:ahLst/>
              <a:cxnLst/>
              <a:rect l="l" t="t" r="r" b="b"/>
              <a:pathLst>
                <a:path w="517144" h="358394">
                  <a:moveTo>
                    <a:pt x="0" y="0"/>
                  </a:moveTo>
                  <a:lnTo>
                    <a:pt x="517144" y="0"/>
                  </a:lnTo>
                  <a:lnTo>
                    <a:pt x="517144" y="358394"/>
                  </a:lnTo>
                  <a:lnTo>
                    <a:pt x="0" y="358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0" b="-22143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391735" y="1262110"/>
            <a:ext cx="1302791" cy="1954197"/>
            <a:chOff x="0" y="0"/>
            <a:chExt cx="1737055" cy="26055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737106" cy="2605532"/>
            </a:xfrm>
            <a:custGeom>
              <a:avLst/>
              <a:gdLst/>
              <a:ahLst/>
              <a:cxnLst/>
              <a:rect l="l" t="t" r="r" b="b"/>
              <a:pathLst>
                <a:path w="1737106" h="2605532">
                  <a:moveTo>
                    <a:pt x="0" y="0"/>
                  </a:moveTo>
                  <a:lnTo>
                    <a:pt x="1737106" y="0"/>
                  </a:lnTo>
                  <a:lnTo>
                    <a:pt x="1737106" y="2605532"/>
                  </a:lnTo>
                  <a:lnTo>
                    <a:pt x="0" y="2605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651" r="-4648" b="-2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7956442" y="1268873"/>
            <a:ext cx="1302791" cy="1954197"/>
            <a:chOff x="0" y="0"/>
            <a:chExt cx="1737055" cy="260559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37106" cy="2605532"/>
            </a:xfrm>
            <a:custGeom>
              <a:avLst/>
              <a:gdLst/>
              <a:ahLst/>
              <a:cxnLst/>
              <a:rect l="l" t="t" r="r" b="b"/>
              <a:pathLst>
                <a:path w="1737106" h="2605532">
                  <a:moveTo>
                    <a:pt x="0" y="0"/>
                  </a:moveTo>
                  <a:lnTo>
                    <a:pt x="1737106" y="0"/>
                  </a:lnTo>
                  <a:lnTo>
                    <a:pt x="1737106" y="2605532"/>
                  </a:lnTo>
                  <a:lnTo>
                    <a:pt x="0" y="2605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6250" r="-6246" b="-2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4079796" y="1319908"/>
            <a:ext cx="1316469" cy="1974704"/>
            <a:chOff x="0" y="0"/>
            <a:chExt cx="1755292" cy="263293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755267" cy="2632964"/>
            </a:xfrm>
            <a:custGeom>
              <a:avLst/>
              <a:gdLst/>
              <a:ahLst/>
              <a:cxnLst/>
              <a:rect l="l" t="t" r="r" b="b"/>
              <a:pathLst>
                <a:path w="1755267" h="2632964">
                  <a:moveTo>
                    <a:pt x="0" y="0"/>
                  </a:moveTo>
                  <a:lnTo>
                    <a:pt x="1755267" y="0"/>
                  </a:lnTo>
                  <a:lnTo>
                    <a:pt x="1755267" y="2632964"/>
                  </a:lnTo>
                  <a:lnTo>
                    <a:pt x="0" y="2632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9259" r="-1" b="-9258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5928" y="2869578"/>
            <a:ext cx="700860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Motivation &amp; Problem </a:t>
            </a:r>
          </a:p>
        </p:txBody>
      </p:sp>
      <p:sp>
        <p:nvSpPr>
          <p:cNvPr id="4" name="AutoShape 4"/>
          <p:cNvSpPr/>
          <p:nvPr/>
        </p:nvSpPr>
        <p:spPr>
          <a:xfrm rot="33360">
            <a:off x="-821417" y="3290983"/>
            <a:ext cx="2945120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2691279" y="4509106"/>
            <a:ext cx="3875427" cy="2453973"/>
            <a:chOff x="0" y="0"/>
            <a:chExt cx="5167236" cy="32719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7249" cy="3272028"/>
            </a:xfrm>
            <a:custGeom>
              <a:avLst/>
              <a:gdLst/>
              <a:ahLst/>
              <a:cxnLst/>
              <a:rect l="l" t="t" r="r" b="b"/>
              <a:pathLst>
                <a:path w="5167249" h="3272028">
                  <a:moveTo>
                    <a:pt x="0" y="0"/>
                  </a:moveTo>
                  <a:lnTo>
                    <a:pt x="5167249" y="0"/>
                  </a:lnTo>
                  <a:lnTo>
                    <a:pt x="5167249" y="3272028"/>
                  </a:lnTo>
                  <a:lnTo>
                    <a:pt x="0" y="3272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66" r="-1966" b="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9104" y="184328"/>
            <a:ext cx="6730394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9104" y="1602372"/>
            <a:ext cx="8700002" cy="1962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8747" lvl="2" indent="-159582" algn="l">
              <a:lnSpc>
                <a:spcPts val="2513"/>
              </a:lnSpc>
              <a:buFont typeface="Arial"/>
              <a:buChar char="⚬"/>
            </a:pPr>
            <a:r>
              <a:rPr lang="en-US" sz="2094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Pneumonia-related medical information may be difficult to access in Arabic.</a:t>
            </a:r>
          </a:p>
          <a:p>
            <a:pPr marL="478747" lvl="2" indent="-159582" algn="l">
              <a:lnSpc>
                <a:spcPts val="2513"/>
              </a:lnSpc>
              <a:buFont typeface="Arial"/>
              <a:buChar char="⚬"/>
            </a:pPr>
            <a:r>
              <a:rPr lang="en-US" sz="2094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Understanding chest X-ray images requires specialized medical expertise.</a:t>
            </a:r>
          </a:p>
          <a:p>
            <a:pPr marL="478747" lvl="2" indent="-159582" algn="l">
              <a:lnSpc>
                <a:spcPts val="2513"/>
              </a:lnSpc>
              <a:buFont typeface="Arial"/>
              <a:buChar char="⚬"/>
            </a:pPr>
            <a:r>
              <a:rPr lang="en-US" sz="2094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Finding relevant answers across medical FAQs can be time-consuming.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2691279" y="4509106"/>
            <a:ext cx="3875427" cy="2453973"/>
            <a:chOff x="0" y="0"/>
            <a:chExt cx="5167236" cy="32719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7249" cy="3272028"/>
            </a:xfrm>
            <a:custGeom>
              <a:avLst/>
              <a:gdLst/>
              <a:ahLst/>
              <a:cxnLst/>
              <a:rect l="l" t="t" r="r" b="b"/>
              <a:pathLst>
                <a:path w="5167249" h="3272028">
                  <a:moveTo>
                    <a:pt x="0" y="0"/>
                  </a:moveTo>
                  <a:lnTo>
                    <a:pt x="5167249" y="0"/>
                  </a:lnTo>
                  <a:lnTo>
                    <a:pt x="5167249" y="3272028"/>
                  </a:lnTo>
                  <a:lnTo>
                    <a:pt x="0" y="3272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66" r="-1966" b="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9104" y="184328"/>
            <a:ext cx="6730394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Our Proposed 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9104" y="1602372"/>
            <a:ext cx="8700002" cy="2896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2094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An AI-powered system that combines:</a:t>
            </a:r>
          </a:p>
          <a:p>
            <a:pPr marL="478747" lvl="2" indent="-159582" algn="l">
              <a:lnSpc>
                <a:spcPts val="2513"/>
              </a:lnSpc>
              <a:buFont typeface="Arial"/>
              <a:buChar char="⚬"/>
            </a:pPr>
            <a:r>
              <a:rPr lang="en-US" sz="2094" b="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Computer Vision: </a:t>
            </a:r>
            <a:r>
              <a:rPr lang="en-US" sz="2094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Classifies chest X-ray images as Normal or Pneumonia.</a:t>
            </a:r>
          </a:p>
          <a:p>
            <a:pPr marL="478747" lvl="2" indent="-159582" algn="l">
              <a:lnSpc>
                <a:spcPts val="2513"/>
              </a:lnSpc>
              <a:buFont typeface="Arial"/>
              <a:buChar char="⚬"/>
            </a:pPr>
            <a:r>
              <a:rPr lang="en-US" sz="2094" b="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Arabic RAG Chatbot: </a:t>
            </a:r>
            <a:r>
              <a:rPr lang="en-US" sz="2094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Retrieves relevant medical FAQ content and generates answers to users' questions.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269729" y="2194589"/>
            <a:ext cx="3494522" cy="2743200"/>
          </a:xfrm>
          <a:custGeom>
            <a:avLst/>
            <a:gdLst/>
            <a:ahLst/>
            <a:cxnLst/>
            <a:rect l="l" t="t" r="r" b="b"/>
            <a:pathLst>
              <a:path w="3494522" h="2743200">
                <a:moveTo>
                  <a:pt x="0" y="0"/>
                </a:moveTo>
                <a:lnTo>
                  <a:pt x="3494522" y="0"/>
                </a:lnTo>
                <a:lnTo>
                  <a:pt x="3494522" y="2743200"/>
                </a:lnTo>
                <a:lnTo>
                  <a:pt x="0" y="2743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52" r="-152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821137" y="2455631"/>
            <a:ext cx="3964734" cy="2616727"/>
            <a:chOff x="0" y="0"/>
            <a:chExt cx="5286312" cy="34889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86248" cy="3488944"/>
            </a:xfrm>
            <a:custGeom>
              <a:avLst/>
              <a:gdLst/>
              <a:ahLst/>
              <a:cxnLst/>
              <a:rect l="l" t="t" r="r" b="b"/>
              <a:pathLst>
                <a:path w="5286248" h="3488944">
                  <a:moveTo>
                    <a:pt x="0" y="0"/>
                  </a:moveTo>
                  <a:lnTo>
                    <a:pt x="5286248" y="0"/>
                  </a:lnTo>
                  <a:lnTo>
                    <a:pt x="5286248" y="3488944"/>
                  </a:lnTo>
                  <a:lnTo>
                    <a:pt x="0" y="3488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2" r="-43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4008101" y="2887351"/>
            <a:ext cx="1569187" cy="1753286"/>
          </a:xfrm>
          <a:custGeom>
            <a:avLst/>
            <a:gdLst/>
            <a:ahLst/>
            <a:cxnLst/>
            <a:rect l="l" t="t" r="r" b="b"/>
            <a:pathLst>
              <a:path w="1569187" h="1753286">
                <a:moveTo>
                  <a:pt x="0" y="0"/>
                </a:moveTo>
                <a:lnTo>
                  <a:pt x="1569187" y="0"/>
                </a:lnTo>
                <a:lnTo>
                  <a:pt x="1569187" y="1753286"/>
                </a:lnTo>
                <a:lnTo>
                  <a:pt x="0" y="1753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74" b="-173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9104" y="184328"/>
            <a:ext cx="6730394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Targeted audience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5024" y="5136766"/>
            <a:ext cx="182394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799" b="1">
                <a:solidFill>
                  <a:srgbClr val="193EB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Doctors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60088" y="5082683"/>
            <a:ext cx="252578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8"/>
              </a:lnSpc>
            </a:pPr>
            <a:r>
              <a:rPr lang="en-US" sz="2699" b="1">
                <a:solidFill>
                  <a:srgbClr val="193EB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Patients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10" y="2869578"/>
            <a:ext cx="8070494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Tools &amp; Technologies</a:t>
            </a:r>
          </a:p>
        </p:txBody>
      </p:sp>
      <p:sp>
        <p:nvSpPr>
          <p:cNvPr id="4" name="AutoShape 4"/>
          <p:cNvSpPr/>
          <p:nvPr/>
        </p:nvSpPr>
        <p:spPr>
          <a:xfrm rot="33360">
            <a:off x="-821417" y="3290983"/>
            <a:ext cx="2945120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376076" y="1314917"/>
            <a:ext cx="8662988" cy="4437088"/>
            <a:chOff x="0" y="0"/>
            <a:chExt cx="11550650" cy="59161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550650" cy="5916168"/>
            </a:xfrm>
            <a:custGeom>
              <a:avLst/>
              <a:gdLst/>
              <a:ahLst/>
              <a:cxnLst/>
              <a:rect l="l" t="t" r="r" b="b"/>
              <a:pathLst>
                <a:path w="11550650" h="5916168">
                  <a:moveTo>
                    <a:pt x="0" y="0"/>
                  </a:moveTo>
                  <a:lnTo>
                    <a:pt x="11550650" y="0"/>
                  </a:lnTo>
                  <a:lnTo>
                    <a:pt x="11550650" y="5916168"/>
                  </a:lnTo>
                  <a:lnTo>
                    <a:pt x="0" y="591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5049" b="-15048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962" y="92431"/>
            <a:ext cx="8060988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Technology Stack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8695" y="222428"/>
            <a:ext cx="8626269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Components &amp; Models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9104" y="1433322"/>
            <a:ext cx="8700002" cy="4266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7406" lvl="2" indent="-155802" algn="l">
              <a:lnSpc>
                <a:spcPts val="2600"/>
              </a:lnSpc>
              <a:buFont typeface="Arial"/>
              <a:buChar char="⚬"/>
            </a:pPr>
            <a:r>
              <a:rPr lang="en-US" sz="2000" b="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Router: </a:t>
            </a:r>
            <a:r>
              <a:rPr lang="en-US" sz="2000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decides which path answers the question</a:t>
            </a:r>
          </a:p>
          <a:p>
            <a:pPr marL="467406" lvl="2" indent="-155802" algn="l">
              <a:lnSpc>
                <a:spcPts val="2600"/>
              </a:lnSpc>
              <a:buFont typeface="Arial"/>
              <a:buChar char="⚬"/>
            </a:pPr>
            <a:r>
              <a:rPr lang="en-US" sz="2000" b="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Diagnosis RAG (planned): </a:t>
            </a:r>
            <a:r>
              <a:rPr lang="en-US" sz="2000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Arabic medical data scraped from altibbi.com</a:t>
            </a:r>
          </a:p>
          <a:p>
            <a:pPr marL="467406" lvl="2" indent="-155802" algn="l">
              <a:lnSpc>
                <a:spcPts val="2600"/>
              </a:lnSpc>
              <a:buFont typeface="Arial"/>
              <a:buChar char="⚬"/>
            </a:pPr>
            <a:r>
              <a:rPr lang="en-US" sz="2000" b="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Guidelines &amp; Drug RAG (planned): </a:t>
            </a:r>
            <a:r>
              <a:rPr lang="en-US" sz="2000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medical guidelines and drug books</a:t>
            </a:r>
          </a:p>
          <a:p>
            <a:pPr marL="467406" lvl="2" indent="-155802" algn="l">
              <a:lnSpc>
                <a:spcPts val="2600"/>
              </a:lnSpc>
              <a:buFont typeface="Arial"/>
              <a:buChar char="⚬"/>
            </a:pPr>
            <a:r>
              <a:rPr lang="en-US" sz="2000" b="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Chest X-ray models</a:t>
            </a:r>
          </a:p>
          <a:p>
            <a:pPr marL="919616" lvl="3" indent="-229904" algn="l">
              <a:lnSpc>
                <a:spcPts val="2600"/>
              </a:lnSpc>
              <a:buFont typeface="Arial"/>
              <a:buChar char="￭"/>
            </a:pPr>
            <a:r>
              <a:rPr lang="en-US" sz="2000" b="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Custom CNN: </a:t>
            </a:r>
            <a:r>
              <a:rPr lang="en-US" sz="2000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built from scratch</a:t>
            </a:r>
          </a:p>
          <a:p>
            <a:pPr marL="919616" lvl="3" indent="-229904" algn="l">
              <a:lnSpc>
                <a:spcPts val="2600"/>
              </a:lnSpc>
              <a:buFont typeface="Arial"/>
              <a:buChar char="￭"/>
            </a:pPr>
            <a:r>
              <a:rPr lang="en-US" sz="2000" b="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ResNet50: </a:t>
            </a:r>
            <a:r>
              <a:rPr lang="en-US" sz="2000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Transfer Learning, pretrained on ImageNet</a:t>
            </a:r>
          </a:p>
          <a:p>
            <a:pPr marL="919616" lvl="3" indent="-229904" algn="l">
              <a:lnSpc>
                <a:spcPts val="2600"/>
              </a:lnSpc>
              <a:buFont typeface="Arial"/>
              <a:buChar char="￭"/>
            </a:pPr>
            <a:r>
              <a:rPr lang="en-US" sz="2000" b="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DenseNet121: </a:t>
            </a:r>
            <a:r>
              <a:rPr lang="en-US" sz="2000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Transfer Learning; dense connections reuse features between layers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5928" y="2724150"/>
            <a:ext cx="700860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Our approach</a:t>
            </a:r>
          </a:p>
        </p:txBody>
      </p:sp>
      <p:sp>
        <p:nvSpPr>
          <p:cNvPr id="4" name="AutoShape 4"/>
          <p:cNvSpPr/>
          <p:nvPr/>
        </p:nvSpPr>
        <p:spPr>
          <a:xfrm rot="33360">
            <a:off x="-821417" y="3290983"/>
            <a:ext cx="2945120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6966" y="92431"/>
            <a:ext cx="7213873" cy="1088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5"/>
              </a:lnSpc>
            </a:pPr>
            <a:r>
              <a:rPr lang="en-US" sz="314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Computer Vision </a:t>
            </a:r>
          </a:p>
          <a:p>
            <a:pPr algn="l">
              <a:lnSpc>
                <a:spcPts val="3775"/>
              </a:lnSpc>
            </a:pPr>
            <a:r>
              <a:rPr lang="en-US" sz="314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Data Preprocessing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94364F-882B-2082-ED62-17E9185A9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1348"/>
            <a:ext cx="9880600" cy="49960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488841" y="6550623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292100" y="6579072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 dirty="0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7552" y="120548"/>
            <a:ext cx="9201236" cy="138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985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Computer Vision</a:t>
            </a:r>
          </a:p>
          <a:p>
            <a:pPr algn="l">
              <a:lnSpc>
                <a:spcPts val="3581"/>
              </a:lnSpc>
            </a:pPr>
            <a:r>
              <a:rPr lang="en-US" sz="2985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Model Development</a:t>
            </a:r>
          </a:p>
          <a:p>
            <a:pPr algn="l">
              <a:lnSpc>
                <a:spcPts val="3581"/>
              </a:lnSpc>
            </a:pPr>
            <a:endParaRPr lang="en-US" sz="2985" b="1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A5120B-34EE-C149-6082-B64F6BCAA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7292"/>
            <a:ext cx="9880600" cy="532488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243082" y="6440367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210064" y="6469680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 dirty="0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0064" y="168373"/>
            <a:ext cx="5824204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Computer Vision</a:t>
            </a: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Evaluation &amp; Selection</a:t>
            </a:r>
          </a:p>
          <a:p>
            <a:pPr algn="l">
              <a:lnSpc>
                <a:spcPts val="3600"/>
              </a:lnSpc>
            </a:pPr>
            <a:endParaRPr lang="en-US" sz="3000" b="1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2296CE-FA94-80B6-7BA5-F546697AB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8" y="1194853"/>
            <a:ext cx="9880600" cy="562397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3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6966" y="92431"/>
            <a:ext cx="7213873" cy="1088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5"/>
              </a:lnSpc>
            </a:pPr>
            <a:r>
              <a:rPr lang="en-US" sz="314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Computer Vision</a:t>
            </a:r>
          </a:p>
          <a:p>
            <a:pPr algn="l">
              <a:lnSpc>
                <a:spcPts val="3775"/>
              </a:lnSpc>
            </a:pPr>
            <a:r>
              <a:rPr lang="en-US" sz="314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Pipeline Overview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C62AC2-64E6-220B-45C6-C0BEAE68F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9" y="1304978"/>
            <a:ext cx="9880600" cy="480024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6256" y="0"/>
            <a:ext cx="10036416" cy="1197292"/>
            <a:chOff x="0" y="0"/>
            <a:chExt cx="13381888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81862" cy="1596390"/>
            </a:xfrm>
            <a:custGeom>
              <a:avLst/>
              <a:gdLst/>
              <a:ahLst/>
              <a:cxnLst/>
              <a:rect l="l" t="t" r="r" b="b"/>
              <a:pathLst>
                <a:path w="13381862" h="1596390">
                  <a:moveTo>
                    <a:pt x="0" y="0"/>
                  </a:moveTo>
                  <a:lnTo>
                    <a:pt x="13381862" y="0"/>
                  </a:lnTo>
                  <a:lnTo>
                    <a:pt x="13381862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907828" y="1285523"/>
            <a:ext cx="7928219" cy="5069843"/>
            <a:chOff x="0" y="0"/>
            <a:chExt cx="10570959" cy="67597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70972" cy="6759829"/>
            </a:xfrm>
            <a:custGeom>
              <a:avLst/>
              <a:gdLst/>
              <a:ahLst/>
              <a:cxnLst/>
              <a:rect l="l" t="t" r="r" b="b"/>
              <a:pathLst>
                <a:path w="10570972" h="6759829">
                  <a:moveTo>
                    <a:pt x="0" y="0"/>
                  </a:moveTo>
                  <a:lnTo>
                    <a:pt x="10570972" y="0"/>
                  </a:lnTo>
                  <a:lnTo>
                    <a:pt x="10570972" y="6759829"/>
                  </a:lnTo>
                  <a:lnTo>
                    <a:pt x="0" y="6759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152" b="-215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5049" y="66675"/>
            <a:ext cx="8032194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RAG 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Arabic Data Preprocessing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3" y="31290"/>
            <a:ext cx="9902857" cy="1027462"/>
            <a:chOff x="0" y="0"/>
            <a:chExt cx="13203809" cy="13699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369949"/>
            </a:xfrm>
            <a:custGeom>
              <a:avLst/>
              <a:gdLst/>
              <a:ahLst/>
              <a:cxnLst/>
              <a:rect l="l" t="t" r="r" b="b"/>
              <a:pathLst>
                <a:path w="13203810" h="1369949">
                  <a:moveTo>
                    <a:pt x="0" y="0"/>
                  </a:moveTo>
                  <a:lnTo>
                    <a:pt x="13203810" y="0"/>
                  </a:lnTo>
                  <a:lnTo>
                    <a:pt x="13203810" y="1369949"/>
                  </a:lnTo>
                  <a:lnTo>
                    <a:pt x="0" y="136994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02403" y="1156068"/>
            <a:ext cx="9374591" cy="5199297"/>
            <a:chOff x="0" y="0"/>
            <a:chExt cx="12499454" cy="69323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99467" cy="6932422"/>
            </a:xfrm>
            <a:custGeom>
              <a:avLst/>
              <a:gdLst/>
              <a:ahLst/>
              <a:cxnLst/>
              <a:rect l="l" t="t" r="r" b="b"/>
              <a:pathLst>
                <a:path w="12499467" h="6932422">
                  <a:moveTo>
                    <a:pt x="0" y="0"/>
                  </a:moveTo>
                  <a:lnTo>
                    <a:pt x="12499467" y="0"/>
                  </a:lnTo>
                  <a:lnTo>
                    <a:pt x="12499467" y="6932422"/>
                  </a:lnTo>
                  <a:lnTo>
                    <a:pt x="0" y="6932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710" b="-710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5049" y="62379"/>
            <a:ext cx="8032194" cy="827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RAG</a:t>
            </a:r>
          </a:p>
          <a:p>
            <a:pPr algn="l">
              <a:lnSpc>
                <a:spcPts val="2899"/>
              </a:lnSpc>
            </a:pPr>
            <a:r>
              <a:rPr lang="en-US" sz="24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English Data Preprocessing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0301" y="0"/>
            <a:ext cx="10358657" cy="903732"/>
            <a:chOff x="0" y="0"/>
            <a:chExt cx="13811542" cy="12049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811504" cy="1204976"/>
            </a:xfrm>
            <a:custGeom>
              <a:avLst/>
              <a:gdLst/>
              <a:ahLst/>
              <a:cxnLst/>
              <a:rect l="l" t="t" r="r" b="b"/>
              <a:pathLst>
                <a:path w="13811504" h="1204976">
                  <a:moveTo>
                    <a:pt x="0" y="0"/>
                  </a:moveTo>
                  <a:lnTo>
                    <a:pt x="13811504" y="0"/>
                  </a:lnTo>
                  <a:lnTo>
                    <a:pt x="13811504" y="1204976"/>
                  </a:lnTo>
                  <a:lnTo>
                    <a:pt x="0" y="1204976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2354" y="903761"/>
            <a:ext cx="9552518" cy="5826052"/>
            <a:chOff x="0" y="0"/>
            <a:chExt cx="12736690" cy="77680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736703" cy="7768082"/>
            </a:xfrm>
            <a:custGeom>
              <a:avLst/>
              <a:gdLst/>
              <a:ahLst/>
              <a:cxnLst/>
              <a:rect l="l" t="t" r="r" b="b"/>
              <a:pathLst>
                <a:path w="12736703" h="7768082">
                  <a:moveTo>
                    <a:pt x="0" y="0"/>
                  </a:moveTo>
                  <a:lnTo>
                    <a:pt x="12736703" y="0"/>
                  </a:lnTo>
                  <a:lnTo>
                    <a:pt x="12736703" y="7768082"/>
                  </a:lnTo>
                  <a:lnTo>
                    <a:pt x="0" y="7768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698" b="-469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65049" y="62379"/>
            <a:ext cx="8032194" cy="827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RAG</a:t>
            </a:r>
          </a:p>
          <a:p>
            <a:pPr algn="l">
              <a:lnSpc>
                <a:spcPts val="2899"/>
              </a:lnSpc>
            </a:pPr>
            <a:r>
              <a:rPr lang="en-US" sz="24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System Architecture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902857" cy="1067143"/>
            <a:chOff x="0" y="0"/>
            <a:chExt cx="13203809" cy="14228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422908"/>
            </a:xfrm>
            <a:custGeom>
              <a:avLst/>
              <a:gdLst/>
              <a:ahLst/>
              <a:cxnLst/>
              <a:rect l="l" t="t" r="r" b="b"/>
              <a:pathLst>
                <a:path w="13203810" h="1422908">
                  <a:moveTo>
                    <a:pt x="0" y="0"/>
                  </a:moveTo>
                  <a:lnTo>
                    <a:pt x="13203810" y="0"/>
                  </a:lnTo>
                  <a:lnTo>
                    <a:pt x="13203810" y="1422908"/>
                  </a:lnTo>
                  <a:lnTo>
                    <a:pt x="0" y="1422908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9104" y="1433322"/>
            <a:ext cx="8700002" cy="4266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664" lvl="2" indent="-171888" algn="l">
              <a:lnSpc>
                <a:spcPts val="3000"/>
              </a:lnSpc>
              <a:buFont typeface="Arial"/>
              <a:buChar char="⚬"/>
            </a:pPr>
            <a:r>
              <a:rPr lang="en-US" sz="2400" b="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Computer Vision: </a:t>
            </a:r>
            <a:r>
              <a:rPr lang="en-US" sz="2400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Selected Model — DenseNet121</a:t>
            </a:r>
          </a:p>
          <a:p>
            <a:pPr marL="515664" lvl="2" indent="-171888" algn="l">
              <a:lnSpc>
                <a:spcPts val="3000"/>
              </a:lnSpc>
              <a:buFont typeface="Arial"/>
              <a:buChar char="⚬"/>
            </a:pPr>
            <a:r>
              <a:rPr lang="en-US" sz="2400" b="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Arabic &amp; English RAG: </a:t>
            </a:r>
            <a:r>
              <a:rPr lang="en-US" sz="2400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Medical FAQ retrieval and answer generation</a:t>
            </a:r>
          </a:p>
          <a:p>
            <a:pPr marL="515664" lvl="2" indent="-171888" algn="l">
              <a:lnSpc>
                <a:spcPts val="3000"/>
              </a:lnSpc>
              <a:buFont typeface="Arial"/>
              <a:buChar char="⚬"/>
            </a:pPr>
            <a:r>
              <a:rPr lang="en-US" sz="2400" b="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Evaluation: </a:t>
            </a:r>
            <a:r>
              <a:rPr lang="en-US" sz="2400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Model performance and RAG response quality</a:t>
            </a:r>
          </a:p>
          <a:p>
            <a:pPr marL="515664" lvl="2" indent="-171888" algn="l">
              <a:lnSpc>
                <a:spcPts val="3000"/>
              </a:lnSpc>
              <a:buFont typeface="Arial"/>
              <a:buChar char="⚬"/>
            </a:pPr>
            <a:r>
              <a:rPr lang="en-US" sz="2400" b="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Outcome: </a:t>
            </a:r>
            <a:r>
              <a:rPr lang="en-US" sz="2400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An integrated system supporting medical information retrieval in Arabic and English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8695" y="222428"/>
            <a:ext cx="8626269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Final Results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5928" y="2724150"/>
            <a:ext cx="700860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Deployment</a:t>
            </a:r>
          </a:p>
        </p:txBody>
      </p:sp>
      <p:sp>
        <p:nvSpPr>
          <p:cNvPr id="4" name="AutoShape 4"/>
          <p:cNvSpPr/>
          <p:nvPr/>
        </p:nvSpPr>
        <p:spPr>
          <a:xfrm rot="33360">
            <a:off x="-821417" y="3290983"/>
            <a:ext cx="2945120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9707" y="1178584"/>
            <a:ext cx="9407535" cy="4500832"/>
          </a:xfrm>
          <a:custGeom>
            <a:avLst/>
            <a:gdLst/>
            <a:ahLst/>
            <a:cxnLst/>
            <a:rect l="l" t="t" r="r" b="b"/>
            <a:pathLst>
              <a:path w="9407535" h="4500832">
                <a:moveTo>
                  <a:pt x="0" y="0"/>
                </a:moveTo>
                <a:lnTo>
                  <a:pt x="9407536" y="0"/>
                </a:lnTo>
                <a:lnTo>
                  <a:pt x="9407536" y="4500832"/>
                </a:lnTo>
                <a:lnTo>
                  <a:pt x="0" y="4500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19238" y="170608"/>
            <a:ext cx="6848474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Deployment : Home Page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251" y="1165892"/>
            <a:ext cx="9568448" cy="4540807"/>
          </a:xfrm>
          <a:custGeom>
            <a:avLst/>
            <a:gdLst/>
            <a:ahLst/>
            <a:cxnLst/>
            <a:rect l="l" t="t" r="r" b="b"/>
            <a:pathLst>
              <a:path w="9568448" h="4540807">
                <a:moveTo>
                  <a:pt x="0" y="0"/>
                </a:moveTo>
                <a:lnTo>
                  <a:pt x="9568448" y="0"/>
                </a:lnTo>
                <a:lnTo>
                  <a:pt x="9568448" y="4540807"/>
                </a:lnTo>
                <a:lnTo>
                  <a:pt x="0" y="4540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" r="-16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19238" y="170608"/>
            <a:ext cx="6848474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Deployment : Assistant EN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6356" y="1160913"/>
            <a:ext cx="9382183" cy="4404256"/>
          </a:xfrm>
          <a:custGeom>
            <a:avLst/>
            <a:gdLst/>
            <a:ahLst/>
            <a:cxnLst/>
            <a:rect l="l" t="t" r="r" b="b"/>
            <a:pathLst>
              <a:path w="9382183" h="4404256">
                <a:moveTo>
                  <a:pt x="0" y="0"/>
                </a:moveTo>
                <a:lnTo>
                  <a:pt x="9382183" y="0"/>
                </a:lnTo>
                <a:lnTo>
                  <a:pt x="9382183" y="4404256"/>
                </a:lnTo>
                <a:lnTo>
                  <a:pt x="0" y="4404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7" b="-92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19238" y="170608"/>
            <a:ext cx="6848474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Deployment : Assistant AR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5800" y="841816"/>
            <a:ext cx="4243590" cy="5356877"/>
          </a:xfrm>
          <a:custGeom>
            <a:avLst/>
            <a:gdLst/>
            <a:ahLst/>
            <a:cxnLst/>
            <a:rect l="l" t="t" r="r" b="b"/>
            <a:pathLst>
              <a:path w="4243590" h="5356877">
                <a:moveTo>
                  <a:pt x="0" y="0"/>
                </a:moveTo>
                <a:lnTo>
                  <a:pt x="4243590" y="0"/>
                </a:lnTo>
                <a:lnTo>
                  <a:pt x="4243590" y="5356878"/>
                </a:lnTo>
                <a:lnTo>
                  <a:pt x="0" y="5356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29078" y="841816"/>
            <a:ext cx="4248784" cy="5356877"/>
          </a:xfrm>
          <a:custGeom>
            <a:avLst/>
            <a:gdLst/>
            <a:ahLst/>
            <a:cxnLst/>
            <a:rect l="l" t="t" r="r" b="b"/>
            <a:pathLst>
              <a:path w="4248784" h="5356877">
                <a:moveTo>
                  <a:pt x="0" y="0"/>
                </a:moveTo>
                <a:lnTo>
                  <a:pt x="4248784" y="0"/>
                </a:lnTo>
                <a:lnTo>
                  <a:pt x="4248784" y="5356878"/>
                </a:lnTo>
                <a:lnTo>
                  <a:pt x="0" y="5356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90455" y="156016"/>
            <a:ext cx="5155841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Deployment : X-ray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734" y="1438746"/>
            <a:ext cx="9434416" cy="3980903"/>
          </a:xfrm>
          <a:custGeom>
            <a:avLst/>
            <a:gdLst/>
            <a:ahLst/>
            <a:cxnLst/>
            <a:rect l="l" t="t" r="r" b="b"/>
            <a:pathLst>
              <a:path w="9434416" h="3980903">
                <a:moveTo>
                  <a:pt x="0" y="0"/>
                </a:moveTo>
                <a:lnTo>
                  <a:pt x="9434416" y="0"/>
                </a:lnTo>
                <a:lnTo>
                  <a:pt x="9434416" y="3980903"/>
                </a:lnTo>
                <a:lnTo>
                  <a:pt x="0" y="3980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14084" y="170608"/>
            <a:ext cx="6658783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Deployment : DashBoard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9288" y="309563"/>
            <a:ext cx="5824204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Future Enhancements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9104" y="1583322"/>
            <a:ext cx="8700002" cy="306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To improve the system's effectiveness and accuracy, several future enhancements can be considered:</a:t>
            </a:r>
          </a:p>
          <a:p>
            <a:pPr marL="467406" lvl="2" indent="-155802" algn="l">
              <a:lnSpc>
                <a:spcPts val="2600"/>
              </a:lnSpc>
              <a:buFont typeface="Arial"/>
              <a:buChar char="⚬"/>
            </a:pPr>
            <a:r>
              <a:rPr lang="en-US" sz="2000" b="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Complete the planned Diagnosis RAG </a:t>
            </a:r>
            <a:r>
              <a:rPr lang="en-US" sz="2000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(Arabic medical data from altibbi.com)</a:t>
            </a:r>
          </a:p>
          <a:p>
            <a:pPr marL="467406" lvl="2" indent="-155802" algn="l">
              <a:lnSpc>
                <a:spcPts val="2600"/>
              </a:lnSpc>
              <a:buFont typeface="Arial"/>
              <a:buChar char="⚬"/>
            </a:pPr>
            <a:r>
              <a:rPr lang="en-US" sz="2000" b="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Complete the planned Guidelines &amp; Drug RAG </a:t>
            </a:r>
            <a:r>
              <a:rPr lang="en-US" sz="2000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(medical guidelines and drug books)</a:t>
            </a:r>
          </a:p>
          <a:p>
            <a:pPr marL="467406" lvl="2" indent="-155802" algn="l">
              <a:lnSpc>
                <a:spcPts val="2600"/>
              </a:lnSpc>
              <a:buFont typeface="Arial"/>
              <a:buChar char="⚬"/>
            </a:pPr>
            <a:r>
              <a:rPr lang="en-US" sz="2000" b="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Further evaluation on unseen data </a:t>
            </a:r>
            <a:r>
              <a:rPr lang="en-US" sz="2000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to confirm generalization and reliability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2979" y="5592937"/>
            <a:ext cx="9309849" cy="769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8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ⓒ2020 SAMSUNG. All rights reserved.</a:t>
            </a:r>
          </a:p>
          <a:p>
            <a:pPr algn="l">
              <a:lnSpc>
                <a:spcPts val="1198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Electronics Corporate Citizenship Office holds the copyright of book.</a:t>
            </a:r>
          </a:p>
          <a:p>
            <a:pPr algn="l">
              <a:lnSpc>
                <a:spcPts val="1198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This book is a literary property protected by copyright law so reprint and reproduction without permission are prohibited. </a:t>
            </a:r>
          </a:p>
          <a:p>
            <a:pPr algn="l">
              <a:lnSpc>
                <a:spcPts val="1198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sp>
        <p:nvSpPr>
          <p:cNvPr id="3" name="Freeform 3"/>
          <p:cNvSpPr/>
          <p:nvPr/>
        </p:nvSpPr>
        <p:spPr>
          <a:xfrm>
            <a:off x="8066551" y="403955"/>
            <a:ext cx="1360961" cy="210188"/>
          </a:xfrm>
          <a:custGeom>
            <a:avLst/>
            <a:gdLst/>
            <a:ahLst/>
            <a:cxnLst/>
            <a:rect l="l" t="t" r="r" b="b"/>
            <a:pathLst>
              <a:path w="1360961" h="210188">
                <a:moveTo>
                  <a:pt x="0" y="0"/>
                </a:moveTo>
                <a:lnTo>
                  <a:pt x="1360961" y="0"/>
                </a:lnTo>
                <a:lnTo>
                  <a:pt x="1360961" y="210188"/>
                </a:lnTo>
                <a:lnTo>
                  <a:pt x="0" y="210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70" b="-2070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271256" y="2628881"/>
            <a:ext cx="3360306" cy="1102138"/>
            <a:chOff x="0" y="0"/>
            <a:chExt cx="4480408" cy="1469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80433" cy="1469517"/>
            </a:xfrm>
            <a:custGeom>
              <a:avLst/>
              <a:gdLst/>
              <a:ahLst/>
              <a:cxnLst/>
              <a:rect l="l" t="t" r="r" b="b"/>
              <a:pathLst>
                <a:path w="4480433" h="1469517">
                  <a:moveTo>
                    <a:pt x="0" y="0"/>
                  </a:moveTo>
                  <a:lnTo>
                    <a:pt x="4480433" y="0"/>
                  </a:lnTo>
                  <a:lnTo>
                    <a:pt x="4480433" y="1469517"/>
                  </a:lnTo>
                  <a:lnTo>
                    <a:pt x="0" y="146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1" b="-101"/>
              </a:stretch>
            </a:blipFill>
          </p:spPr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555</Words>
  <Application>Microsoft Office PowerPoint</Application>
  <PresentationFormat>Custom</PresentationFormat>
  <Paragraphs>193</Paragraphs>
  <Slides>27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 MT Pro</vt:lpstr>
      <vt:lpstr>Arimo Bold</vt:lpstr>
      <vt:lpstr>Arial MT Pro Bold</vt:lpstr>
      <vt:lpstr>Arial</vt:lpstr>
      <vt:lpstr>Calibri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Team_12_Final_Project_SIC.pptx</dc:title>
  <cp:lastModifiedBy>Moataz Sameh Shehata</cp:lastModifiedBy>
  <cp:revision>4</cp:revision>
  <dcterms:created xsi:type="dcterms:W3CDTF">2006-08-16T00:00:00Z</dcterms:created>
  <dcterms:modified xsi:type="dcterms:W3CDTF">2026-10-29T13:32:14Z</dcterms:modified>
  <dc:identifier>DAHZYWPTMyM</dc:identifier>
</cp:coreProperties>
</file>